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LAN TS" userId="92de0e1d998760d2" providerId="LiveId" clId="{CF14BE2C-3029-49B1-9DB0-6F8B5FABE600}"/>
    <pc:docChg chg="modSld">
      <pc:chgData name="AKILAN TS" userId="92de0e1d998760d2" providerId="LiveId" clId="{CF14BE2C-3029-49B1-9DB0-6F8B5FABE600}" dt="2026-08-30T18:43:33.637" v="16" actId="2711"/>
      <pc:docMkLst>
        <pc:docMk/>
      </pc:docMkLst>
      <pc:sldChg chg="addSp modSp mod">
        <pc:chgData name="AKILAN TS" userId="92de0e1d998760d2" providerId="LiveId" clId="{CF14BE2C-3029-49B1-9DB0-6F8B5FABE600}" dt="2026-08-30T18:43:33.637" v="16" actId="2711"/>
        <pc:sldMkLst>
          <pc:docMk/>
          <pc:sldMk cId="0" sldId="256"/>
        </pc:sldMkLst>
        <pc:spChg chg="mod">
          <ac:chgData name="AKILAN TS" userId="92de0e1d998760d2" providerId="LiveId" clId="{CF14BE2C-3029-49B1-9DB0-6F8B5FABE600}" dt="2026-08-30T18:43:10.296" v="13" actId="21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AKILAN TS" userId="92de0e1d998760d2" providerId="LiveId" clId="{CF14BE2C-3029-49B1-9DB0-6F8B5FABE600}" dt="2026-08-30T18:43:33.637" v="16" actId="2711"/>
          <ac:spMkLst>
            <pc:docMk/>
            <pc:sldMk cId="0" sldId="256"/>
            <ac:spMk id="8" creationId="{88B231AD-7CFD-B1CB-56E8-63ED6AA066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83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eraindia.in/journal/Vol%2037%20%282%29%202024.pdf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eraindia.in/upload/16489065273802.pdf" TargetMode="External"/><Relationship Id="rId5" Type="http://schemas.openxmlformats.org/officeDocument/2006/relationships/hyperlink" Target="https://epubs.icar.org.in/index.php/IJEE/article/view/178205" TargetMode="External"/><Relationship Id="rId4" Type="http://schemas.openxmlformats.org/officeDocument/2006/relationships/hyperlink" Target="https://link.springer.com/article/10.1007/s43621-025-01412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9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1" y="1636776"/>
            <a:ext cx="6858000" cy="376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26033</a:t>
            </a:r>
            <a:endParaRPr lang="en-US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Multiple intermediaries reduce farmers earnings and increase consumer prices</a:t>
            </a:r>
            <a:endParaRPr lang="en-US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Agriculture, FoodTech &amp; Rural Development</a:t>
            </a:r>
            <a:endParaRPr lang="en-US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Software</a:t>
            </a:r>
            <a:endParaRPr lang="en-US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SIH26–A0H-T389</a:t>
            </a:r>
            <a:endParaRPr lang="en-US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– NEXORA</a:t>
            </a:r>
            <a:endParaRPr lang="en-US" sz="2000" b="1" dirty="0"/>
          </a:p>
        </p:txBody>
      </p:sp>
      <p:pic>
        <p:nvPicPr>
          <p:cNvPr id="5" name="Image 1" descr="/home/claude/work/asset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54480"/>
            <a:ext cx="402336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3"/>
          <p:cNvSpPr/>
          <p:nvPr/>
        </p:nvSpPr>
        <p:spPr>
          <a:xfrm>
            <a:off x="11551615" y="64739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0EB711-7419-8533-5930-5B05F5230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8891" y="21135"/>
            <a:ext cx="1779924" cy="793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B231AD-7CFD-B1CB-56E8-63ED6AA0664C}"/>
              </a:ext>
            </a:extLst>
          </p:cNvPr>
          <p:cNvSpPr txBox="1"/>
          <p:nvPr/>
        </p:nvSpPr>
        <p:spPr>
          <a:xfrm>
            <a:off x="3886201" y="934733"/>
            <a:ext cx="6094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B2B2B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TITLE PAGE 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0" y="182880"/>
            <a:ext cx="132588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B3F7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18288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NEXORA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737360" y="164592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FARM-TO-MARKET DIGITAL MARKETPLACE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/>
          <p:nvPr/>
        </p:nvSpPr>
        <p:spPr>
          <a:xfrm>
            <a:off x="11551615" y="64739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5156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 </a:t>
            </a: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marketplace connecting farmers/FPOs directly with consumers and bulk buyers.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1EEF7"/>
          </a:solidFill>
          <a:ln w="19050">
            <a:solidFill>
              <a:srgbClr val="4B3F72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2121408"/>
            <a:ext cx="2459736" cy="365760"/>
          </a:xfrm>
          <a:prstGeom prst="roundRect">
            <a:avLst>
              <a:gd name="adj" fmla="val 15000"/>
            </a:avLst>
          </a:prstGeom>
          <a:solidFill>
            <a:srgbClr val="4B3F72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2121408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Listing &amp; Pricing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2578608"/>
            <a:ext cx="2404872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post produce, quantity, quality and expected price.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300984" y="201168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BEEEA"/>
          </a:solidFill>
          <a:ln w="19050">
            <a:solidFill>
              <a:srgbClr val="8B3A2E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10712" y="2121408"/>
            <a:ext cx="2459736" cy="365760"/>
          </a:xfrm>
          <a:prstGeom prst="roundRect">
            <a:avLst>
              <a:gd name="adj" fmla="val 15000"/>
            </a:avLst>
          </a:prstGeom>
          <a:solidFill>
            <a:srgbClr val="8B3A2E"/>
          </a:solidFill>
          <a:ln/>
        </p:spPr>
      </p:sp>
      <p:sp>
        <p:nvSpPr>
          <p:cNvPr id="16" name="Text 13"/>
          <p:cNvSpPr/>
          <p:nvPr/>
        </p:nvSpPr>
        <p:spPr>
          <a:xfrm>
            <a:off x="3410712" y="2121408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Discovery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38144" y="2578608"/>
            <a:ext cx="2404872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Consumers, retailers, restaurants and institutional buyers place orders directly.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44768" y="201168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EEF2FB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54496" y="2121408"/>
            <a:ext cx="2459736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6254496" y="2121408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Support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81928" y="2578608"/>
            <a:ext cx="2404872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orders are consolidated and matched with suitable transport.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988552" y="201168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1EEF7"/>
          </a:solidFill>
          <a:ln w="19050">
            <a:solidFill>
              <a:srgbClr val="4B3F72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098280" y="2121408"/>
            <a:ext cx="2459736" cy="365760"/>
          </a:xfrm>
          <a:prstGeom prst="roundRect">
            <a:avLst>
              <a:gd name="adj" fmla="val 15000"/>
            </a:avLst>
          </a:prstGeom>
          <a:solidFill>
            <a:srgbClr val="4B3F72"/>
          </a:solidFill>
          <a:ln/>
        </p:spPr>
      </p:sp>
      <p:sp>
        <p:nvSpPr>
          <p:cNvPr id="24" name="Text 21"/>
          <p:cNvSpPr/>
          <p:nvPr/>
        </p:nvSpPr>
        <p:spPr>
          <a:xfrm>
            <a:off x="9098280" y="2121408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25712" y="2578608"/>
            <a:ext cx="2404872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demand and recommends inventory/dispatch decisions; optimizes delivery routes.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46177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0070C0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617720"/>
            <a:ext cx="108173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Innovation: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combining direct market access, demand intelligence and logistics coordination.</a:t>
            </a:r>
            <a:endParaRPr lang="en-US" sz="15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3EA6B80-3C40-9BAE-1D6A-3BB65967E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891" y="21135"/>
            <a:ext cx="1779924" cy="793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0" y="182880"/>
            <a:ext cx="132588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B3F7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18288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NEXORA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737360" y="164592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/>
          <p:nvPr/>
        </p:nvSpPr>
        <p:spPr>
          <a:xfrm>
            <a:off x="11551615" y="64739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11274552" cy="566928"/>
          </a:xfrm>
          <a:prstGeom prst="rect">
            <a:avLst/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0972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63240" y="10972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 – farmer, buyer and admin dashboards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664208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166420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63240" y="166420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/ Spring Boot REST APIs – users, listings, orders, inventory and logistics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231136"/>
            <a:ext cx="11274552" cy="566928"/>
          </a:xfrm>
          <a:prstGeom prst="rect">
            <a:avLst/>
          </a:prstGeom>
          <a:solidFill>
            <a:srgbClr val="EEF2FB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23113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63240" y="223113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– farmers/FPOs, produce, buyers, orders, deliveries and transaction records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27980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063240" y="279806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 using historical orders, seasonality and regional demand signals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364992"/>
            <a:ext cx="11274552" cy="566928"/>
          </a:xfrm>
          <a:prstGeom prst="rect">
            <a:avLst/>
          </a:prstGeom>
          <a:solidFill>
            <a:srgbClr val="EEF2FB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3649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optimization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063240" y="33649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Considers delivery locations, vehicle capacity and delivery constraints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3931920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39319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063240" y="393192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Cloud-hosted web application with secure authentication and role-based access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95732" y="566928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0070C0"/>
          </a:solidFill>
          <a:ln/>
        </p:spPr>
      </p:sp>
      <p:sp>
        <p:nvSpPr>
          <p:cNvPr id="27" name="Text 24"/>
          <p:cNvSpPr/>
          <p:nvPr/>
        </p:nvSpPr>
        <p:spPr>
          <a:xfrm>
            <a:off x="595732" y="566928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/ FPO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Produce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561692" y="5998464"/>
            <a:ext cx="29260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854300" y="566928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0070C0"/>
          </a:solidFill>
          <a:ln/>
        </p:spPr>
      </p:sp>
      <p:sp>
        <p:nvSpPr>
          <p:cNvPr id="30" name="Text 27"/>
          <p:cNvSpPr/>
          <p:nvPr/>
        </p:nvSpPr>
        <p:spPr>
          <a:xfrm>
            <a:off x="2854300" y="566928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Demand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820260" y="5998464"/>
            <a:ext cx="29260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12868" y="566928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0070C0"/>
          </a:solidFill>
          <a:ln/>
        </p:spPr>
      </p:sp>
      <p:sp>
        <p:nvSpPr>
          <p:cNvPr id="33" name="Text 30"/>
          <p:cNvSpPr/>
          <p:nvPr/>
        </p:nvSpPr>
        <p:spPr>
          <a:xfrm>
            <a:off x="5112868" y="566928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078828" y="5998464"/>
            <a:ext cx="29260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71436" y="566928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0070C0"/>
          </a:solidFill>
          <a:ln/>
        </p:spPr>
      </p:sp>
      <p:sp>
        <p:nvSpPr>
          <p:cNvPr id="36" name="Text 33"/>
          <p:cNvSpPr/>
          <p:nvPr/>
        </p:nvSpPr>
        <p:spPr>
          <a:xfrm>
            <a:off x="7371436" y="566928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9337396" y="5998464"/>
            <a:ext cx="29260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630004" y="566928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0070C0"/>
          </a:solidFill>
          <a:ln/>
        </p:spPr>
      </p:sp>
      <p:sp>
        <p:nvSpPr>
          <p:cNvPr id="39" name="Text 36"/>
          <p:cNvSpPr/>
          <p:nvPr/>
        </p:nvSpPr>
        <p:spPr>
          <a:xfrm>
            <a:off x="9630004" y="566928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327091C-C677-A274-4BF0-2A7E0CB91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891" y="21135"/>
            <a:ext cx="1779924" cy="793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0" y="182880"/>
            <a:ext cx="132588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B3F7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18288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NEXORA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737360" y="164592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/>
          <p:nvPr/>
        </p:nvSpPr>
        <p:spPr>
          <a:xfrm>
            <a:off x="11551615" y="64739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4480560" cy="5074920"/>
          </a:xfrm>
          <a:prstGeom prst="roundRect">
            <a:avLst>
              <a:gd name="adj" fmla="val 1633"/>
            </a:avLst>
          </a:prstGeom>
          <a:solidFill>
            <a:srgbClr val="EEF2FB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1161288"/>
            <a:ext cx="4261104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161288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1618488"/>
            <a:ext cx="4206240" cy="43891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standard web technologies, REST APIs and a relational database.</a:t>
            </a:r>
            <a:endParaRPr lang="en-US" sz="13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begin with one region/crop and scale incrementally.</a:t>
            </a:r>
            <a:endParaRPr lang="en-US" sz="13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 can improve as transaction history grows.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74920" y="105156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BEEEA"/>
          </a:solidFill>
          <a:ln w="19050">
            <a:solidFill>
              <a:srgbClr val="8B3A2E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84648" y="1161288"/>
            <a:ext cx="3026664" cy="365760"/>
          </a:xfrm>
          <a:prstGeom prst="roundRect">
            <a:avLst>
              <a:gd name="adj" fmla="val 15000"/>
            </a:avLst>
          </a:prstGeom>
          <a:solidFill>
            <a:srgbClr val="8B3A2E"/>
          </a:solidFill>
          <a:ln/>
        </p:spPr>
      </p:sp>
      <p:sp>
        <p:nvSpPr>
          <p:cNvPr id="14" name="Text 11"/>
          <p:cNvSpPr/>
          <p:nvPr/>
        </p:nvSpPr>
        <p:spPr>
          <a:xfrm>
            <a:off x="5184648" y="116128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RISKS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212080" y="1618488"/>
            <a:ext cx="2971800" cy="1783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supply, variable quality and changing demand.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Last-mile transport availability and cost fluctuations.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adoption, digital literacy and trust.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74920" y="365760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1EEF7"/>
          </a:solidFill>
          <a:ln w="19050">
            <a:solidFill>
              <a:srgbClr val="4B3F72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84648" y="3767328"/>
            <a:ext cx="3026664" cy="365760"/>
          </a:xfrm>
          <a:prstGeom prst="roundRect">
            <a:avLst>
              <a:gd name="adj" fmla="val 15000"/>
            </a:avLst>
          </a:prstGeom>
          <a:solidFill>
            <a:srgbClr val="4B3F72"/>
          </a:solidFill>
          <a:ln/>
        </p:spPr>
      </p:sp>
      <p:sp>
        <p:nvSpPr>
          <p:cNvPr id="18" name="Text 15"/>
          <p:cNvSpPr/>
          <p:nvPr/>
        </p:nvSpPr>
        <p:spPr>
          <a:xfrm>
            <a:off x="5184648" y="376732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212080" y="4224528"/>
            <a:ext cx="2971800" cy="17830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FPO onboarding, simple multilingual UI and assisted workflows.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users, transparent pricing and order tracking.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with human review of AI recommendations.</a:t>
            </a:r>
            <a:endParaRPr lang="en-US" sz="1100" dirty="0"/>
          </a:p>
        </p:txBody>
      </p:sp>
      <p:pic>
        <p:nvPicPr>
          <p:cNvPr id="20" name="Image 1" descr="/home/claude/work/assets/far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097280"/>
            <a:ext cx="3108960" cy="2331720"/>
          </a:xfrm>
          <a:prstGeom prst="rect">
            <a:avLst/>
          </a:prstGeom>
        </p:spPr>
      </p:pic>
      <p:pic>
        <p:nvPicPr>
          <p:cNvPr id="21" name="Image 2" descr="/home/claude/work/assets/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3657600"/>
            <a:ext cx="3108960" cy="21945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E7A3D6-3065-388D-98B9-7180706CD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891" y="21135"/>
            <a:ext cx="1779924" cy="793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0" y="182880"/>
            <a:ext cx="132588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B3F7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18288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NEXORA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737360" y="164592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/>
          <p:nvPr/>
        </p:nvSpPr>
        <p:spPr>
          <a:xfrm>
            <a:off x="11551615" y="64739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1161288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16128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/ FPOs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1618488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direct buyers, improved price discovery and reduced dependence on intermediaries.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10128" y="10515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BEEEA"/>
          </a:solidFill>
          <a:ln w="19050">
            <a:solidFill>
              <a:srgbClr val="8B3A2E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9856" y="1161288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8B3A2E"/>
          </a:solidFill>
          <a:ln/>
        </p:spPr>
      </p:sp>
      <p:sp>
        <p:nvSpPr>
          <p:cNvPr id="14" name="Text 11"/>
          <p:cNvSpPr/>
          <p:nvPr/>
        </p:nvSpPr>
        <p:spPr>
          <a:xfrm>
            <a:off x="3419856" y="116128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447288" y="1618488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access to fresh produce and potential price savings.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63056" y="10515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1EEF7"/>
          </a:solidFill>
          <a:ln w="19050">
            <a:solidFill>
              <a:srgbClr val="4B3F72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72784" y="1161288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4B3F72"/>
          </a:solidFill>
          <a:ln/>
        </p:spPr>
      </p:sp>
      <p:sp>
        <p:nvSpPr>
          <p:cNvPr id="18" name="Text 15"/>
          <p:cNvSpPr/>
          <p:nvPr/>
        </p:nvSpPr>
        <p:spPr>
          <a:xfrm>
            <a:off x="6272784" y="116128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Buyers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00216" y="1618488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sourcing, supply visibility and consolidated procurement.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015984" y="10515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125712" y="1161288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9125712" y="116128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153144" y="1618488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vehicle utilization, grouped deliveries and optimized routes.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3182112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BEEEA"/>
          </a:solidFill>
          <a:ln w="19050">
            <a:solidFill>
              <a:srgbClr val="8B3A2E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6928" y="3291840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8B3A2E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329184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94360" y="3749040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avoidable supply-chain costs and improves market efficiency.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310128" y="3182112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1EEF7"/>
          </a:solidFill>
          <a:ln w="19050">
            <a:solidFill>
              <a:srgbClr val="4B3F72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19856" y="3291840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4B3F72"/>
          </a:solidFill>
          <a:ln/>
        </p:spPr>
      </p:sp>
      <p:sp>
        <p:nvSpPr>
          <p:cNvPr id="30" name="Text 27"/>
          <p:cNvSpPr/>
          <p:nvPr/>
        </p:nvSpPr>
        <p:spPr>
          <a:xfrm>
            <a:off x="3419856" y="329184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447288" y="3749040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Consolidated, optimized deliveries can reduce unnecessary travel.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163056" y="3182112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72784" y="3291840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34" name="Text 31"/>
          <p:cNvSpPr/>
          <p:nvPr/>
        </p:nvSpPr>
        <p:spPr>
          <a:xfrm>
            <a:off x="6272784" y="329184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300216" y="3749040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scalable agricultural marketplace driven by real demand.</a:t>
            </a:r>
            <a:endParaRPr lang="en-US" sz="11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61CEBDE-248F-A1A9-32B6-3A95BF773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891" y="21135"/>
            <a:ext cx="1779924" cy="793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0" y="182880"/>
            <a:ext cx="132588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B3F7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18288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NEXORA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737360" y="164592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/>
          <p:nvPr/>
        </p:nvSpPr>
        <p:spPr>
          <a:xfrm>
            <a:off x="11551615" y="64739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11274552" cy="1060704"/>
          </a:xfrm>
          <a:prstGeom prst="roundRect">
            <a:avLst>
              <a:gd name="adj" fmla="val 5172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188720"/>
            <a:ext cx="108813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agricultural trading and commerce in India: Role of e-NAM and potential of digital trade.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Agricultural Economics Research Review, 37(2), 165–181.  </a:t>
            </a: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Das, R., Chanda, B., Krishna, G., &amp; Gulati, A. (2024).</a:t>
            </a:r>
          </a:p>
          <a:p>
            <a:r>
              <a:rPr lang="en-IN" sz="1400" dirty="0">
                <a:hlinkClick r:id="rId3"/>
              </a:rPr>
              <a:t>https://aeraindia.in/journal/Vol%2037%20%282%29%202024.pdf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313432"/>
            <a:ext cx="11274552" cy="1060704"/>
          </a:xfrm>
          <a:prstGeom prst="roundRect">
            <a:avLst>
              <a:gd name="adj" fmla="val 5172"/>
            </a:avLst>
          </a:prstGeom>
          <a:solidFill>
            <a:srgbClr val="F1EEF7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359152"/>
            <a:ext cx="108813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Determinants of small farmers access to agricultural markets: evidence from South India.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Sustainability, 6, 962.  </a:t>
            </a: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Manogna, R. L. (2025).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>
                <a:hlinkClick r:id="rId4"/>
              </a:rPr>
              <a:t>https://link.springer.com/article/10.1007/s43621-025-01412-5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483864"/>
            <a:ext cx="11274552" cy="1060704"/>
          </a:xfrm>
          <a:prstGeom prst="roundRect">
            <a:avLst>
              <a:gd name="adj" fmla="val 5172"/>
            </a:avLst>
          </a:prstGeom>
          <a:solidFill>
            <a:srgbClr val="EEF2FB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529584"/>
            <a:ext cx="108813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Determinants, Knowledge and Constraints of Electronic National Agriculture Market (eNAM) Adoption in Tamil Nadu.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 Lekha, S., Ariputhiran, A., Ramakrishnan, R., &amp; Indhushree, A. (2026).</a:t>
            </a:r>
          </a:p>
          <a:p>
            <a:r>
              <a:rPr lang="en-IN" sz="1400" dirty="0">
                <a:hlinkClick r:id="rId5"/>
              </a:rPr>
              <a:t>https://epubs.icar.org.in/index.php/IJEE/article/view/178205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654296"/>
            <a:ext cx="11274552" cy="1060704"/>
          </a:xfrm>
          <a:prstGeom prst="roundRect">
            <a:avLst>
              <a:gd name="adj" fmla="val 5172"/>
            </a:avLst>
          </a:prstGeom>
          <a:solidFill>
            <a:srgbClr val="F1EEF7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700016"/>
            <a:ext cx="108813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changing structure of agricultural marketing in India: A state-level analysis of e-NAM.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Agricultural Economics Research Review, 34, 97–109.  </a:t>
            </a: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Venkatesh, P., Singh, D. R., Sangeetha, V., Balasubramanian, M., &amp; Jha, G. K. (2021).</a:t>
            </a:r>
          </a:p>
          <a:p>
            <a:r>
              <a:rPr lang="en-IN" sz="1400" dirty="0">
                <a:hlinkClick r:id="rId6"/>
              </a:rPr>
              <a:t>https://www.aeraindia.in/upload/16489065273802.pdf</a:t>
            </a:r>
            <a:endParaRPr lang="en-US" sz="1250" dirty="0">
              <a:solidFill>
                <a:srgbClr val="2B2B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BFB816-C943-C6AD-5133-CE42220E56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8891" y="21135"/>
            <a:ext cx="1779924" cy="7936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661</Words>
  <Application>Microsoft Office PowerPoint</Application>
  <PresentationFormat>Widescreen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AKILAN TS</cp:lastModifiedBy>
  <cp:revision>2</cp:revision>
  <dcterms:created xsi:type="dcterms:W3CDTF">2026-08-30T16:24:19Z</dcterms:created>
  <dcterms:modified xsi:type="dcterms:W3CDTF">2026-08-30T18:43:39Z</dcterms:modified>
</cp:coreProperties>
</file>